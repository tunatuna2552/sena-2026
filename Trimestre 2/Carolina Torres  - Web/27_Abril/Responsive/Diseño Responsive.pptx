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3" roundtripDataSignature="AMtx7mjIeIN1dO4yn2WybsPSSNZBOBETN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C6A0AFF-9CF0-44DC-ADD7-3E50970263CB}">
  <a:tblStyle styleId="{CC6A0AFF-9CF0-44DC-ADD7-3E50970263C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2" d="100"/>
          <a:sy n="142" d="100"/>
        </p:scale>
        <p:origin x="7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customschemas.google.com/relationships/presentationmetadata" Target="meta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857400" y="685800"/>
            <a:ext cx="34291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" name="Google Shape;17;p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" name="Google Shape;27;p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" name="Google Shape;36;p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6" name="Google Shape;46;p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1" name="Google Shape;61;p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0" name="Google Shape;80;p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"/>
          <p:cNvSpPr/>
          <p:nvPr/>
        </p:nvSpPr>
        <p:spPr>
          <a:xfrm>
            <a:off x="4937760" y="457200"/>
            <a:ext cx="4023360" cy="4023360"/>
          </a:xfrm>
          <a:prstGeom prst="rect">
            <a:avLst/>
          </a:prstGeom>
          <a:solidFill>
            <a:srgbClr val="97B1DF"/>
          </a:solidFill>
          <a:ln w="12700" cap="flat" cmpd="sng">
            <a:solidFill>
              <a:srgbClr val="97B1D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1" descr="preencoded.png"/>
          <p:cNvSpPr/>
          <p:nvPr/>
        </p:nvSpPr>
        <p:spPr>
          <a:xfrm>
            <a:off x="6126480" y="1554480"/>
            <a:ext cx="1371600" cy="13716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1"/>
          <p:cNvSpPr/>
          <p:nvPr/>
        </p:nvSpPr>
        <p:spPr>
          <a:xfrm>
            <a:off x="274320" y="1885076"/>
            <a:ext cx="4572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30A18"/>
              </a:buClr>
              <a:buSzPts val="6000"/>
              <a:buFont typeface="Arial"/>
              <a:buNone/>
            </a:pPr>
            <a:r>
              <a:rPr lang="en-US" sz="6000" b="1">
                <a:solidFill>
                  <a:srgbClr val="030A18"/>
                </a:solidFill>
                <a:latin typeface="Arial"/>
                <a:ea typeface="Arial"/>
                <a:cs typeface="Arial"/>
                <a:sym typeface="Arial"/>
              </a:rPr>
              <a:t>Diseño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30A18"/>
              </a:buClr>
              <a:buSzPts val="6000"/>
              <a:buFont typeface="Arial"/>
              <a:buNone/>
            </a:pPr>
            <a:r>
              <a:rPr lang="en-US" sz="6000" b="1">
                <a:solidFill>
                  <a:srgbClr val="030A18"/>
                </a:solidFill>
                <a:latin typeface="Arial"/>
                <a:ea typeface="Arial"/>
                <a:cs typeface="Arial"/>
                <a:sym typeface="Arial"/>
              </a:rPr>
              <a:t>Web Responsive</a:t>
            </a:r>
            <a:endParaRPr sz="6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"/>
          <p:cNvSpPr/>
          <p:nvPr/>
        </p:nvSpPr>
        <p:spPr>
          <a:xfrm>
            <a:off x="274320" y="274320"/>
            <a:ext cx="85953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30A18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30A18"/>
                </a:solidFill>
                <a:latin typeface="Arial"/>
                <a:ea typeface="Arial"/>
                <a:cs typeface="Arial"/>
                <a:sym typeface="Arial"/>
              </a:rPr>
              <a:t>¿Qué es el diseño responsive?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2"/>
          <p:cNvSpPr/>
          <p:nvPr/>
        </p:nvSpPr>
        <p:spPr>
          <a:xfrm>
            <a:off x="457200" y="1097280"/>
            <a:ext cx="4572000" cy="3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50" tIns="1250" rIns="1250" bIns="12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30A18"/>
              </a:buClr>
              <a:buSzPts val="1800"/>
              <a:buFont typeface="Calibri"/>
              <a:buNone/>
            </a:pPr>
            <a:r>
              <a:rPr lang="en-US" sz="1800" b="1">
                <a:solidFill>
                  <a:srgbClr val="030A18"/>
                </a:solidFill>
                <a:latin typeface="Calibri"/>
                <a:ea typeface="Calibri"/>
                <a:cs typeface="Calibri"/>
                <a:sym typeface="Calibri"/>
              </a:rPr>
              <a:t>El diseño responsive crea páginas que se adaptan a cualquier pantalla.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30A18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030A18"/>
                </a:solidFill>
                <a:latin typeface="Calibri"/>
                <a:ea typeface="Calibri"/>
                <a:cs typeface="Calibri"/>
                <a:sym typeface="Calibri"/>
              </a:rPr>
              <a:t>Permite que el mismo sitio funcione bien en móviles, tablets y monitores de escritorio.</a:t>
            </a:r>
            <a:br>
              <a:rPr lang="en-US" sz="1800">
                <a:solidFill>
                  <a:srgbClr val="030A18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800">
                <a:solidFill>
                  <a:srgbClr val="030A1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b="1">
                <a:solidFill>
                  <a:srgbClr val="030A18"/>
                </a:solidFill>
                <a:latin typeface="Calibri"/>
                <a:ea typeface="Calibri"/>
                <a:cs typeface="Calibri"/>
                <a:sym typeface="Calibri"/>
              </a:rPr>
              <a:t>Beneficios:</a:t>
            </a:r>
            <a:br>
              <a:rPr lang="en-US" sz="1800" b="1">
                <a:solidFill>
                  <a:srgbClr val="030A1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– Mejor experiencia de usuario</a:t>
            </a:r>
            <a:br>
              <a:rPr lang="en-US" sz="1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– SEO favorable (Search Engine Optimization)</a:t>
            </a:r>
            <a:br>
              <a:rPr lang="en-US" sz="1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– Ahorro de tiempo al mantener un único diseño</a:t>
            </a:r>
            <a:br>
              <a:rPr lang="en-US" sz="11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40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2" descr="preencoded.png"/>
          <p:cNvSpPr/>
          <p:nvPr/>
        </p:nvSpPr>
        <p:spPr>
          <a:xfrm>
            <a:off x="5669280" y="1371600"/>
            <a:ext cx="1097280" cy="1097280"/>
          </a:xfrm>
          <a:prstGeom prst="rect">
            <a:avLst/>
          </a:prstGeom>
          <a:noFill/>
          <a:ln>
            <a:noFill/>
          </a:ln>
        </p:spPr>
      </p:sp>
      <p:sp>
        <p:nvSpPr>
          <p:cNvPr id="23" name="Google Shape;23;p2" descr="preencoded.png"/>
          <p:cNvSpPr/>
          <p:nvPr/>
        </p:nvSpPr>
        <p:spPr>
          <a:xfrm>
            <a:off x="7132320" y="914400"/>
            <a:ext cx="731520" cy="731520"/>
          </a:xfrm>
          <a:prstGeom prst="rect">
            <a:avLst/>
          </a:prstGeom>
          <a:noFill/>
          <a:ln>
            <a:noFill/>
          </a:ln>
        </p:spPr>
      </p:sp>
      <p:sp>
        <p:nvSpPr>
          <p:cNvPr id="24" name="Google Shape;24;p2" descr="preencoded.png"/>
          <p:cNvSpPr/>
          <p:nvPr/>
        </p:nvSpPr>
        <p:spPr>
          <a:xfrm>
            <a:off x="6858000" y="2286000"/>
            <a:ext cx="914400" cy="914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"/>
          <p:cNvSpPr/>
          <p:nvPr/>
        </p:nvSpPr>
        <p:spPr>
          <a:xfrm>
            <a:off x="274320" y="274320"/>
            <a:ext cx="85953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30A18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30A18"/>
                </a:solidFill>
                <a:latin typeface="Arial"/>
                <a:ea typeface="Arial"/>
                <a:cs typeface="Arial"/>
                <a:sym typeface="Arial"/>
              </a:rPr>
              <a:t>Meta viewport y unidades fluidas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365759" y="1188720"/>
            <a:ext cx="6935373" cy="3108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50" tIns="1250" rIns="1250" bIns="12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30A18"/>
              </a:buClr>
              <a:buSzPts val="1800"/>
              <a:buFont typeface="Calibri"/>
              <a:buNone/>
            </a:pPr>
            <a:br>
              <a:rPr lang="en-US" sz="1800" b="1">
                <a:solidFill>
                  <a:srgbClr val="030A1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b="1">
                <a:solidFill>
                  <a:srgbClr val="030A18"/>
                </a:solidFill>
                <a:latin typeface="Calibri"/>
                <a:ea typeface="Calibri"/>
                <a:cs typeface="Calibri"/>
                <a:sym typeface="Calibri"/>
              </a:rPr>
              <a:t>Etiqueta meta viewport:</a:t>
            </a:r>
            <a:br>
              <a:rPr lang="en-US" sz="1800" b="1">
                <a:solidFill>
                  <a:srgbClr val="030A1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&lt;meta name="viewport" content="width=device-width, initial-scale=1" /&gt;</a:t>
            </a:r>
            <a:br>
              <a:rPr lang="en-US" sz="1800">
                <a:solidFill>
                  <a:srgbClr val="97B1D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>
                <a:solidFill>
                  <a:srgbClr val="030A18"/>
                </a:solidFill>
                <a:latin typeface="Calibri"/>
                <a:ea typeface="Calibri"/>
                <a:cs typeface="Calibri"/>
                <a:sym typeface="Calibri"/>
              </a:rPr>
              <a:t>Informa al navegador móvil que el ancho de la página debe coincidir con el ancho del dispositivo y escalarse al 100 %.</a:t>
            </a:r>
            <a:br>
              <a:rPr lang="en-US" sz="1800">
                <a:solidFill>
                  <a:srgbClr val="030A18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800">
                <a:solidFill>
                  <a:srgbClr val="030A1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b="1">
                <a:solidFill>
                  <a:srgbClr val="030A18"/>
                </a:solidFill>
                <a:latin typeface="Calibri"/>
                <a:ea typeface="Calibri"/>
                <a:cs typeface="Calibri"/>
                <a:sym typeface="Calibri"/>
              </a:rPr>
              <a:t>Unidades fluidas:</a:t>
            </a:r>
            <a:br>
              <a:rPr lang="en-US" sz="1800" b="1">
                <a:solidFill>
                  <a:srgbClr val="030A1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% para anchuras, rem/em para tamaños de fuente, vw/vh para tamaños relativos al viewport.</a:t>
            </a:r>
            <a:br>
              <a:rPr lang="en-US" sz="1800">
                <a:solidFill>
                  <a:srgbClr val="97B1D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>
                <a:solidFill>
                  <a:srgbClr val="030A18"/>
                </a:solidFill>
                <a:latin typeface="Calibri"/>
                <a:ea typeface="Calibri"/>
                <a:cs typeface="Calibri"/>
                <a:sym typeface="Calibri"/>
              </a:rPr>
              <a:t>Aplicar max-width: 100 % a imágenes y vídeos para evitar desbordes.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3" descr="preencoded.png"/>
          <p:cNvSpPr/>
          <p:nvPr/>
        </p:nvSpPr>
        <p:spPr>
          <a:xfrm>
            <a:off x="7814603" y="1840230"/>
            <a:ext cx="914400" cy="914400"/>
          </a:xfrm>
          <a:prstGeom prst="rect">
            <a:avLst/>
          </a:prstGeom>
          <a:noFill/>
          <a:ln>
            <a:noFill/>
          </a:ln>
        </p:spPr>
      </p:sp>
      <p:sp>
        <p:nvSpPr>
          <p:cNvPr id="33" name="Google Shape;33;p3" descr="preencoded.png"/>
          <p:cNvSpPr/>
          <p:nvPr/>
        </p:nvSpPr>
        <p:spPr>
          <a:xfrm>
            <a:off x="7906043" y="3355144"/>
            <a:ext cx="731520" cy="73152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4"/>
          <p:cNvSpPr/>
          <p:nvPr/>
        </p:nvSpPr>
        <p:spPr>
          <a:xfrm>
            <a:off x="274320" y="274320"/>
            <a:ext cx="85953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30A18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30A18"/>
                </a:solidFill>
                <a:latin typeface="Arial"/>
                <a:ea typeface="Arial"/>
                <a:cs typeface="Arial"/>
                <a:sym typeface="Arial"/>
              </a:rPr>
              <a:t>Layouts flexibles: Flexbox y Grid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457200" y="1280160"/>
            <a:ext cx="3931920" cy="3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50" tIns="1250" rIns="1250" bIns="12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30A18"/>
              </a:buClr>
              <a:buSzPts val="2000"/>
              <a:buFont typeface="Calibri"/>
              <a:buNone/>
            </a:pPr>
            <a:r>
              <a:rPr lang="en-US" sz="2000" b="1">
                <a:solidFill>
                  <a:srgbClr val="030A18"/>
                </a:solidFill>
                <a:latin typeface="Calibri"/>
                <a:ea typeface="Calibri"/>
                <a:cs typeface="Calibri"/>
                <a:sym typeface="Calibri"/>
              </a:rPr>
              <a:t>Flexbox</a:t>
            </a:r>
            <a:br>
              <a:rPr lang="en-US" sz="2000" b="1">
                <a:solidFill>
                  <a:srgbClr val="030A1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0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– Distribuye elementos en un eje</a:t>
            </a:r>
            <a:br>
              <a:rPr lang="en-US" sz="20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0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– Permite que crezcan o se contraigan</a:t>
            </a:r>
            <a:br>
              <a:rPr lang="en-US" sz="2000">
                <a:solidFill>
                  <a:srgbClr val="97B1D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000" b="1">
                <a:solidFill>
                  <a:srgbClr val="030A18"/>
                </a:solidFill>
                <a:latin typeface="Calibri"/>
                <a:ea typeface="Calibri"/>
                <a:cs typeface="Calibri"/>
                <a:sym typeface="Calibri"/>
              </a:rPr>
              <a:t>Ejemplo:</a:t>
            </a:r>
            <a:br>
              <a:rPr lang="en-US" sz="2000" b="1">
                <a:solidFill>
                  <a:srgbClr val="030A1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000">
                <a:solidFill>
                  <a:srgbClr val="030A18"/>
                </a:solidFill>
                <a:latin typeface="Courier New"/>
                <a:ea typeface="Courier New"/>
                <a:cs typeface="Courier New"/>
                <a:sym typeface="Courier New"/>
              </a:rPr>
              <a:t>  .container { display: flex; gap: 1rem; }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30A18"/>
              </a:buClr>
              <a:buSzPts val="2000"/>
              <a:buFont typeface="Courier New"/>
              <a:buNone/>
            </a:pPr>
            <a:r>
              <a:rPr lang="en-US" sz="2000">
                <a:solidFill>
                  <a:srgbClr val="030A18"/>
                </a:solidFill>
                <a:latin typeface="Courier New"/>
                <a:ea typeface="Courier New"/>
                <a:cs typeface="Courier New"/>
                <a:sym typeface="Courier New"/>
              </a:rPr>
              <a:t>  .columna { flex: 1; }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4572000" y="1280160"/>
            <a:ext cx="4114800" cy="3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50" tIns="1250" rIns="1250" bIns="12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30A18"/>
              </a:buClr>
              <a:buSzPts val="1800"/>
              <a:buFont typeface="Calibri"/>
              <a:buNone/>
            </a:pPr>
            <a:r>
              <a:rPr lang="en-US" sz="1800" b="1">
                <a:solidFill>
                  <a:srgbClr val="030A18"/>
                </a:solidFill>
                <a:latin typeface="Calibri"/>
                <a:ea typeface="Calibri"/>
                <a:cs typeface="Calibri"/>
                <a:sym typeface="Calibri"/>
              </a:rPr>
              <a:t>Grid</a:t>
            </a:r>
            <a:br>
              <a:rPr lang="en-US" sz="1800" b="1">
                <a:solidFill>
                  <a:srgbClr val="030A1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– Gestiona filas y columnas</a:t>
            </a:r>
            <a:br>
              <a:rPr lang="en-US" sz="1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– Distribuye espacio con unidades fr</a:t>
            </a:r>
            <a:br>
              <a:rPr lang="en-US" sz="1800">
                <a:solidFill>
                  <a:srgbClr val="97B1D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b="1">
                <a:solidFill>
                  <a:srgbClr val="030A18"/>
                </a:solidFill>
                <a:latin typeface="Calibri"/>
                <a:ea typeface="Calibri"/>
                <a:cs typeface="Calibri"/>
                <a:sym typeface="Calibri"/>
              </a:rPr>
              <a:t>Ejemplo:</a:t>
            </a:r>
            <a:br>
              <a:rPr lang="en-US" sz="1800" b="1">
                <a:solidFill>
                  <a:srgbClr val="030A1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>
                <a:solidFill>
                  <a:srgbClr val="030A18"/>
                </a:solidFill>
                <a:latin typeface="Courier New"/>
                <a:ea typeface="Courier New"/>
                <a:cs typeface="Courier New"/>
                <a:sym typeface="Courier New"/>
              </a:rPr>
              <a:t>  .galeria { display: grid; grid-template-columns: repeat(auto-fit, minmax(200px, 1fr)); gap: 1rem; }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 descr="preencoded.png"/>
          <p:cNvSpPr/>
          <p:nvPr/>
        </p:nvSpPr>
        <p:spPr>
          <a:xfrm>
            <a:off x="457200" y="1097280"/>
            <a:ext cx="365760" cy="365760"/>
          </a:xfrm>
          <a:prstGeom prst="rect">
            <a:avLst/>
          </a:prstGeom>
          <a:noFill/>
          <a:ln>
            <a:noFill/>
          </a:ln>
        </p:spPr>
      </p:sp>
      <p:sp>
        <p:nvSpPr>
          <p:cNvPr id="43" name="Google Shape;43;p4" descr="preencoded.png"/>
          <p:cNvSpPr/>
          <p:nvPr/>
        </p:nvSpPr>
        <p:spPr>
          <a:xfrm>
            <a:off x="4572000" y="1097280"/>
            <a:ext cx="365760" cy="36576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5"/>
          <p:cNvSpPr/>
          <p:nvPr/>
        </p:nvSpPr>
        <p:spPr>
          <a:xfrm>
            <a:off x="274320" y="274320"/>
            <a:ext cx="85953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30A18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30A18"/>
                </a:solidFill>
                <a:latin typeface="Arial"/>
                <a:ea typeface="Arial"/>
                <a:cs typeface="Arial"/>
                <a:sym typeface="Arial"/>
              </a:rPr>
              <a:t>Media queries y breakpoints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5"/>
          <p:cNvSpPr/>
          <p:nvPr/>
        </p:nvSpPr>
        <p:spPr>
          <a:xfrm>
            <a:off x="457200" y="1188720"/>
            <a:ext cx="566928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50" tIns="1250" rIns="1250" bIns="12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30A18"/>
              </a:buClr>
              <a:buSzPts val="2000"/>
              <a:buFont typeface="Calibri"/>
              <a:buNone/>
            </a:pPr>
            <a:br>
              <a:rPr lang="en-US" sz="2000">
                <a:solidFill>
                  <a:srgbClr val="030A1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000">
                <a:solidFill>
                  <a:srgbClr val="030A18"/>
                </a:solidFill>
                <a:latin typeface="Calibri"/>
                <a:ea typeface="Calibri"/>
                <a:cs typeface="Calibri"/>
                <a:sym typeface="Calibri"/>
              </a:rPr>
              <a:t>Media queries permiten aplicar estilos según el ancho, orientación o características del dispositivo.</a:t>
            </a:r>
            <a:br>
              <a:rPr lang="en-US" sz="2000">
                <a:solidFill>
                  <a:srgbClr val="030A18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2000">
                <a:solidFill>
                  <a:srgbClr val="030A1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000" b="1">
                <a:solidFill>
                  <a:srgbClr val="030A18"/>
                </a:solidFill>
                <a:latin typeface="Calibri"/>
                <a:ea typeface="Calibri"/>
                <a:cs typeface="Calibri"/>
                <a:sym typeface="Calibri"/>
              </a:rPr>
              <a:t>Estructura básica:</a:t>
            </a:r>
            <a:br>
              <a:rPr lang="en-US" sz="2000" b="1">
                <a:solidFill>
                  <a:srgbClr val="030A1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000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@media (max-width: 600px) { ... }</a:t>
            </a:r>
            <a:br>
              <a:rPr lang="en-US" sz="2000">
                <a:solidFill>
                  <a:srgbClr val="97B1DF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2000" b="1">
                <a:solidFill>
                  <a:srgbClr val="030A18"/>
                </a:solidFill>
                <a:latin typeface="Calibri"/>
                <a:ea typeface="Calibri"/>
                <a:cs typeface="Calibri"/>
                <a:sym typeface="Calibri"/>
              </a:rPr>
              <a:t>Recomendaciones:</a:t>
            </a:r>
            <a:br>
              <a:rPr lang="en-US" sz="2000" b="1">
                <a:solidFill>
                  <a:srgbClr val="030A1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0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– Diseña mobile‑first (estilos base para móviles)</a:t>
            </a:r>
            <a:br>
              <a:rPr lang="en-US" sz="20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0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– Usa min-width para pantallas grandes</a:t>
            </a:r>
            <a:br>
              <a:rPr lang="en-US" sz="20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0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– Define breakpoints con unidades relativas (em, rem)</a:t>
            </a:r>
            <a:br>
              <a:rPr lang="en-US" sz="1100">
                <a:solidFill>
                  <a:srgbClr val="97B1D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5"/>
          <p:cNvSpPr/>
          <p:nvPr/>
        </p:nvSpPr>
        <p:spPr>
          <a:xfrm>
            <a:off x="6583680" y="1828800"/>
            <a:ext cx="502920" cy="274320"/>
          </a:xfrm>
          <a:prstGeom prst="rect">
            <a:avLst/>
          </a:prstGeom>
          <a:solidFill>
            <a:srgbClr val="97B1DF"/>
          </a:solidFill>
          <a:ln w="12700" cap="flat" cmpd="sng">
            <a:solidFill>
              <a:srgbClr val="97B1D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5"/>
          <p:cNvSpPr/>
          <p:nvPr/>
        </p:nvSpPr>
        <p:spPr>
          <a:xfrm>
            <a:off x="7178040" y="1828800"/>
            <a:ext cx="502920" cy="274320"/>
          </a:xfrm>
          <a:prstGeom prst="rect">
            <a:avLst/>
          </a:prstGeom>
          <a:solidFill>
            <a:srgbClr val="97B1DF"/>
          </a:solidFill>
          <a:ln w="12700" cap="flat" cmpd="sng">
            <a:solidFill>
              <a:srgbClr val="97B1D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5"/>
          <p:cNvSpPr/>
          <p:nvPr/>
        </p:nvSpPr>
        <p:spPr>
          <a:xfrm>
            <a:off x="7772400" y="1828800"/>
            <a:ext cx="502920" cy="274320"/>
          </a:xfrm>
          <a:prstGeom prst="rect">
            <a:avLst/>
          </a:prstGeom>
          <a:solidFill>
            <a:srgbClr val="97B1DF"/>
          </a:solidFill>
          <a:ln w="12700" cap="flat" cmpd="sng">
            <a:solidFill>
              <a:srgbClr val="97B1D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5"/>
          <p:cNvSpPr/>
          <p:nvPr/>
        </p:nvSpPr>
        <p:spPr>
          <a:xfrm>
            <a:off x="6583680" y="155448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7B1DF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97B1DF"/>
                </a:solidFill>
                <a:latin typeface="Calibri"/>
                <a:ea typeface="Calibri"/>
                <a:cs typeface="Calibri"/>
                <a:sym typeface="Calibri"/>
              </a:rPr>
              <a:t>≥ 900px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8046720" y="2377440"/>
            <a:ext cx="502920" cy="274320"/>
          </a:xfrm>
          <a:prstGeom prst="rect">
            <a:avLst/>
          </a:prstGeom>
          <a:solidFill>
            <a:srgbClr val="97B1DF"/>
          </a:solidFill>
          <a:ln w="12700" cap="flat" cmpd="sng">
            <a:solidFill>
              <a:srgbClr val="97B1D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8046720" y="2697480"/>
            <a:ext cx="502920" cy="274320"/>
          </a:xfrm>
          <a:prstGeom prst="rect">
            <a:avLst/>
          </a:prstGeom>
          <a:solidFill>
            <a:srgbClr val="97B1DF"/>
          </a:solidFill>
          <a:ln w="12700" cap="flat" cmpd="sng">
            <a:solidFill>
              <a:srgbClr val="97B1D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8046720" y="3017520"/>
            <a:ext cx="502920" cy="274320"/>
          </a:xfrm>
          <a:prstGeom prst="rect">
            <a:avLst/>
          </a:prstGeom>
          <a:solidFill>
            <a:srgbClr val="97B1DF"/>
          </a:solidFill>
          <a:ln w="12700" cap="flat" cmpd="sng">
            <a:solidFill>
              <a:srgbClr val="97B1D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8046720" y="2103120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7B1DF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97B1DF"/>
                </a:solidFill>
                <a:latin typeface="Calibri"/>
                <a:ea typeface="Calibri"/>
                <a:cs typeface="Calibri"/>
                <a:sym typeface="Calibri"/>
              </a:rPr>
              <a:t>&lt; 600px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6"/>
          <p:cNvSpPr/>
          <p:nvPr/>
        </p:nvSpPr>
        <p:spPr>
          <a:xfrm>
            <a:off x="274320" y="274320"/>
            <a:ext cx="85953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30A18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30A18"/>
                </a:solidFill>
                <a:latin typeface="Arial"/>
                <a:ea typeface="Arial"/>
                <a:cs typeface="Arial"/>
                <a:sym typeface="Arial"/>
              </a:rPr>
              <a:t>Página Responsive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6"/>
          <p:cNvSpPr/>
          <p:nvPr/>
        </p:nvSpPr>
        <p:spPr>
          <a:xfrm>
            <a:off x="457199" y="1280160"/>
            <a:ext cx="8201465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30A18"/>
              </a:buClr>
              <a:buSzPts val="2000"/>
              <a:buFont typeface="Calibri"/>
              <a:buNone/>
            </a:pPr>
            <a:r>
              <a:rPr lang="en-US" sz="2000">
                <a:solidFill>
                  <a:srgbClr val="030A18"/>
                </a:solidFill>
                <a:latin typeface="Calibri"/>
                <a:ea typeface="Calibri"/>
                <a:cs typeface="Calibri"/>
                <a:sym typeface="Calibri"/>
              </a:rPr>
              <a:t>Reto: crear un sitio con 4 secciones (hero, servicios, galería, contacto) que se adapte a móvil, tablet y escritorio.</a:t>
            </a:r>
            <a:br>
              <a:rPr lang="en-US" sz="2000">
                <a:solidFill>
                  <a:srgbClr val="030A18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6"/>
          <p:cNvSpPr/>
          <p:nvPr/>
        </p:nvSpPr>
        <p:spPr>
          <a:xfrm>
            <a:off x="457200" y="2377440"/>
            <a:ext cx="937260" cy="365760"/>
          </a:xfrm>
          <a:prstGeom prst="roundRect">
            <a:avLst>
              <a:gd name="adj" fmla="val 12500"/>
            </a:avLst>
          </a:prstGeom>
          <a:solidFill>
            <a:srgbClr val="97B1DF"/>
          </a:solidFill>
          <a:ln w="12700" cap="flat" cmpd="sng">
            <a:solidFill>
              <a:srgbClr val="97B1D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6"/>
          <p:cNvSpPr/>
          <p:nvPr/>
        </p:nvSpPr>
        <p:spPr>
          <a:xfrm>
            <a:off x="457200" y="2377440"/>
            <a:ext cx="9372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Planificación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6"/>
          <p:cNvSpPr/>
          <p:nvPr/>
        </p:nvSpPr>
        <p:spPr>
          <a:xfrm>
            <a:off x="1485900" y="2377440"/>
            <a:ext cx="1451610" cy="365760"/>
          </a:xfrm>
          <a:prstGeom prst="roundRect">
            <a:avLst>
              <a:gd name="adj" fmla="val 12500"/>
            </a:avLst>
          </a:prstGeom>
          <a:solidFill>
            <a:srgbClr val="97B1DF"/>
          </a:solidFill>
          <a:ln w="12700" cap="flat" cmpd="sng">
            <a:solidFill>
              <a:srgbClr val="97B1D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6"/>
          <p:cNvSpPr/>
          <p:nvPr/>
        </p:nvSpPr>
        <p:spPr>
          <a:xfrm>
            <a:off x="1485900" y="2377440"/>
            <a:ext cx="145161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Móvil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6"/>
          <p:cNvSpPr/>
          <p:nvPr/>
        </p:nvSpPr>
        <p:spPr>
          <a:xfrm>
            <a:off x="3028950" y="2377440"/>
            <a:ext cx="1451610" cy="365760"/>
          </a:xfrm>
          <a:prstGeom prst="roundRect">
            <a:avLst>
              <a:gd name="adj" fmla="val 12500"/>
            </a:avLst>
          </a:prstGeom>
          <a:solidFill>
            <a:srgbClr val="97B1DF"/>
          </a:solidFill>
          <a:ln w="12700" cap="flat" cmpd="sng">
            <a:solidFill>
              <a:srgbClr val="97B1D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6"/>
          <p:cNvSpPr/>
          <p:nvPr/>
        </p:nvSpPr>
        <p:spPr>
          <a:xfrm>
            <a:off x="3028950" y="2377440"/>
            <a:ext cx="145161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Flex/Grid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6"/>
          <p:cNvSpPr/>
          <p:nvPr/>
        </p:nvSpPr>
        <p:spPr>
          <a:xfrm>
            <a:off x="4572000" y="2377440"/>
            <a:ext cx="1451610" cy="365760"/>
          </a:xfrm>
          <a:prstGeom prst="roundRect">
            <a:avLst>
              <a:gd name="adj" fmla="val 12500"/>
            </a:avLst>
          </a:prstGeom>
          <a:solidFill>
            <a:srgbClr val="97B1DF"/>
          </a:solidFill>
          <a:ln w="12700" cap="flat" cmpd="sng">
            <a:solidFill>
              <a:srgbClr val="97B1D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6"/>
          <p:cNvSpPr/>
          <p:nvPr/>
        </p:nvSpPr>
        <p:spPr>
          <a:xfrm>
            <a:off x="4572000" y="2377440"/>
            <a:ext cx="145161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Media queries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6"/>
          <p:cNvSpPr/>
          <p:nvPr/>
        </p:nvSpPr>
        <p:spPr>
          <a:xfrm>
            <a:off x="6115050" y="2377440"/>
            <a:ext cx="1451610" cy="365760"/>
          </a:xfrm>
          <a:prstGeom prst="roundRect">
            <a:avLst>
              <a:gd name="adj" fmla="val 12500"/>
            </a:avLst>
          </a:prstGeom>
          <a:solidFill>
            <a:srgbClr val="97B1DF"/>
          </a:solidFill>
          <a:ln w="12700" cap="flat" cmpd="sng">
            <a:solidFill>
              <a:srgbClr val="97B1D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6"/>
          <p:cNvSpPr/>
          <p:nvPr/>
        </p:nvSpPr>
        <p:spPr>
          <a:xfrm>
            <a:off x="6115050" y="2377440"/>
            <a:ext cx="145161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Optimización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6"/>
          <p:cNvSpPr/>
          <p:nvPr/>
        </p:nvSpPr>
        <p:spPr>
          <a:xfrm>
            <a:off x="7658100" y="2377440"/>
            <a:ext cx="937260" cy="365760"/>
          </a:xfrm>
          <a:prstGeom prst="roundRect">
            <a:avLst>
              <a:gd name="adj" fmla="val 12500"/>
            </a:avLst>
          </a:prstGeom>
          <a:solidFill>
            <a:srgbClr val="97B1DF"/>
          </a:solidFill>
          <a:ln w="12700" cap="flat" cmpd="sng">
            <a:solidFill>
              <a:srgbClr val="97B1D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6"/>
          <p:cNvSpPr/>
          <p:nvPr/>
        </p:nvSpPr>
        <p:spPr>
          <a:xfrm>
            <a:off x="7658100" y="2377440"/>
            <a:ext cx="9372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Presentación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7"/>
          <p:cNvSpPr/>
          <p:nvPr/>
        </p:nvSpPr>
        <p:spPr>
          <a:xfrm>
            <a:off x="274320" y="274320"/>
            <a:ext cx="85953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30A18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30A18"/>
                </a:solidFill>
                <a:latin typeface="Arial"/>
                <a:ea typeface="Arial"/>
                <a:cs typeface="Arial"/>
                <a:sym typeface="Arial"/>
              </a:rPr>
              <a:t>Pasos y evaluación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7"/>
          <p:cNvSpPr/>
          <p:nvPr/>
        </p:nvSpPr>
        <p:spPr>
          <a:xfrm>
            <a:off x="365760" y="1097280"/>
            <a:ext cx="274320" cy="274320"/>
          </a:xfrm>
          <a:prstGeom prst="ellipse">
            <a:avLst/>
          </a:prstGeom>
          <a:solidFill>
            <a:srgbClr val="97B1DF"/>
          </a:solidFill>
          <a:ln w="12700" cap="flat" cmpd="sng">
            <a:solidFill>
              <a:srgbClr val="97B1D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7"/>
          <p:cNvSpPr/>
          <p:nvPr/>
        </p:nvSpPr>
        <p:spPr>
          <a:xfrm>
            <a:off x="365760" y="109728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7"/>
          <p:cNvSpPr/>
          <p:nvPr/>
        </p:nvSpPr>
        <p:spPr>
          <a:xfrm>
            <a:off x="731520" y="1097280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30A18"/>
              </a:buClr>
              <a:buSzPts val="1600"/>
              <a:buFont typeface="Calibri"/>
              <a:buNone/>
            </a:pPr>
            <a:r>
              <a:rPr lang="en-US" sz="1600" b="1">
                <a:solidFill>
                  <a:srgbClr val="030A18"/>
                </a:solidFill>
                <a:latin typeface="Calibri"/>
                <a:ea typeface="Calibri"/>
                <a:cs typeface="Calibri"/>
                <a:sym typeface="Calibri"/>
              </a:rPr>
              <a:t>Planifica</a:t>
            </a:r>
            <a:br>
              <a:rPr lang="en-US" sz="1600" b="1">
                <a:solidFill>
                  <a:srgbClr val="030A1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Define tema y bosqueja tu versión móvil.</a:t>
            </a:r>
            <a:endParaRPr/>
          </a:p>
        </p:txBody>
      </p:sp>
      <p:sp>
        <p:nvSpPr>
          <p:cNvPr id="87" name="Google Shape;87;p7"/>
          <p:cNvSpPr/>
          <p:nvPr/>
        </p:nvSpPr>
        <p:spPr>
          <a:xfrm>
            <a:off x="365760" y="1645920"/>
            <a:ext cx="274320" cy="274320"/>
          </a:xfrm>
          <a:prstGeom prst="ellipse">
            <a:avLst/>
          </a:prstGeom>
          <a:solidFill>
            <a:srgbClr val="97B1DF"/>
          </a:solidFill>
          <a:ln w="12700" cap="flat" cmpd="sng">
            <a:solidFill>
              <a:srgbClr val="97B1D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7"/>
          <p:cNvSpPr/>
          <p:nvPr/>
        </p:nvSpPr>
        <p:spPr>
          <a:xfrm>
            <a:off x="365760" y="164592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7"/>
          <p:cNvSpPr/>
          <p:nvPr/>
        </p:nvSpPr>
        <p:spPr>
          <a:xfrm>
            <a:off x="731520" y="1645920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30A18"/>
              </a:buClr>
              <a:buSzPts val="1600"/>
              <a:buFont typeface="Calibri"/>
              <a:buNone/>
            </a:pPr>
            <a:r>
              <a:rPr lang="en-US" sz="1600" b="1">
                <a:solidFill>
                  <a:srgbClr val="030A18"/>
                </a:solidFill>
                <a:latin typeface="Calibri"/>
                <a:ea typeface="Calibri"/>
                <a:cs typeface="Calibri"/>
                <a:sym typeface="Calibri"/>
              </a:rPr>
              <a:t>Maqueta móvil</a:t>
            </a:r>
            <a:br>
              <a:rPr lang="en-US" sz="1600" b="1">
                <a:solidFill>
                  <a:srgbClr val="030A1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Escribe el HTML base y aplica estilos base</a:t>
            </a:r>
            <a:r>
              <a:rPr lang="en-US" sz="1600">
                <a:solidFill>
                  <a:srgbClr val="97B1D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7"/>
          <p:cNvSpPr/>
          <p:nvPr/>
        </p:nvSpPr>
        <p:spPr>
          <a:xfrm>
            <a:off x="365760" y="2194560"/>
            <a:ext cx="274320" cy="274320"/>
          </a:xfrm>
          <a:prstGeom prst="ellipse">
            <a:avLst/>
          </a:prstGeom>
          <a:solidFill>
            <a:srgbClr val="97B1DF"/>
          </a:solidFill>
          <a:ln w="12700" cap="flat" cmpd="sng">
            <a:solidFill>
              <a:srgbClr val="97B1D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7"/>
          <p:cNvSpPr/>
          <p:nvPr/>
        </p:nvSpPr>
        <p:spPr>
          <a:xfrm>
            <a:off x="365760" y="219456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7"/>
          <p:cNvSpPr/>
          <p:nvPr/>
        </p:nvSpPr>
        <p:spPr>
          <a:xfrm>
            <a:off x="731520" y="2194560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30A18"/>
              </a:buClr>
              <a:buSzPts val="1600"/>
              <a:buFont typeface="Calibri"/>
              <a:buNone/>
            </a:pPr>
            <a:r>
              <a:rPr lang="en-US" sz="1600" b="1">
                <a:solidFill>
                  <a:srgbClr val="030A18"/>
                </a:solidFill>
                <a:latin typeface="Calibri"/>
                <a:ea typeface="Calibri"/>
                <a:cs typeface="Calibri"/>
                <a:sym typeface="Calibri"/>
              </a:rPr>
              <a:t>Flex y Grid</a:t>
            </a:r>
            <a:br>
              <a:rPr lang="en-US" sz="1600" b="1">
                <a:solidFill>
                  <a:srgbClr val="030A1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Implementa layouts flexibles en servicios y galería</a:t>
            </a:r>
            <a:r>
              <a:rPr lang="en-US" sz="1600">
                <a:solidFill>
                  <a:srgbClr val="97B1D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7"/>
          <p:cNvSpPr/>
          <p:nvPr/>
        </p:nvSpPr>
        <p:spPr>
          <a:xfrm>
            <a:off x="365760" y="2743200"/>
            <a:ext cx="274320" cy="274320"/>
          </a:xfrm>
          <a:prstGeom prst="ellipse">
            <a:avLst/>
          </a:prstGeom>
          <a:solidFill>
            <a:srgbClr val="97B1DF"/>
          </a:solidFill>
          <a:ln w="12700" cap="flat" cmpd="sng">
            <a:solidFill>
              <a:srgbClr val="97B1D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7"/>
          <p:cNvSpPr/>
          <p:nvPr/>
        </p:nvSpPr>
        <p:spPr>
          <a:xfrm>
            <a:off x="365760" y="274320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7"/>
          <p:cNvSpPr/>
          <p:nvPr/>
        </p:nvSpPr>
        <p:spPr>
          <a:xfrm>
            <a:off x="731520" y="2743200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30A18"/>
              </a:buClr>
              <a:buSzPts val="1600"/>
              <a:buFont typeface="Calibri"/>
              <a:buNone/>
            </a:pPr>
            <a:r>
              <a:rPr lang="en-US" sz="1600" b="1">
                <a:solidFill>
                  <a:srgbClr val="030A18"/>
                </a:solidFill>
                <a:latin typeface="Calibri"/>
                <a:ea typeface="Calibri"/>
                <a:cs typeface="Calibri"/>
                <a:sym typeface="Calibri"/>
              </a:rPr>
              <a:t>Media queries</a:t>
            </a:r>
            <a:br>
              <a:rPr lang="en-US" sz="1600" b="1">
                <a:solidFill>
                  <a:srgbClr val="030A1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Agrega breakpoints para tablet y escritorio.</a:t>
            </a:r>
            <a:endParaRPr/>
          </a:p>
        </p:txBody>
      </p:sp>
      <p:sp>
        <p:nvSpPr>
          <p:cNvPr id="96" name="Google Shape;96;p7"/>
          <p:cNvSpPr/>
          <p:nvPr/>
        </p:nvSpPr>
        <p:spPr>
          <a:xfrm>
            <a:off x="365760" y="3291840"/>
            <a:ext cx="274320" cy="274320"/>
          </a:xfrm>
          <a:prstGeom prst="ellipse">
            <a:avLst/>
          </a:prstGeom>
          <a:solidFill>
            <a:srgbClr val="97B1DF"/>
          </a:solidFill>
          <a:ln w="12700" cap="flat" cmpd="sng">
            <a:solidFill>
              <a:srgbClr val="97B1D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7"/>
          <p:cNvSpPr/>
          <p:nvPr/>
        </p:nvSpPr>
        <p:spPr>
          <a:xfrm>
            <a:off x="365760" y="329184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7"/>
          <p:cNvSpPr/>
          <p:nvPr/>
        </p:nvSpPr>
        <p:spPr>
          <a:xfrm>
            <a:off x="731520" y="3291840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30A18"/>
              </a:buClr>
              <a:buSzPts val="1600"/>
              <a:buFont typeface="Calibri"/>
              <a:buNone/>
            </a:pPr>
            <a:r>
              <a:rPr lang="en-US" sz="1600" b="1">
                <a:solidFill>
                  <a:srgbClr val="030A18"/>
                </a:solidFill>
                <a:latin typeface="Calibri"/>
                <a:ea typeface="Calibri"/>
                <a:cs typeface="Calibri"/>
                <a:sym typeface="Calibri"/>
              </a:rPr>
              <a:t>Optimiza y presenta</a:t>
            </a:r>
            <a:br>
              <a:rPr lang="en-US" sz="1600" b="1">
                <a:solidFill>
                  <a:srgbClr val="030A1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Revisa contraste, accesibilidad y presenta tu proyecto</a:t>
            </a:r>
            <a:r>
              <a:rPr lang="en-US" sz="1600">
                <a:solidFill>
                  <a:srgbClr val="97B1D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99" name="Google Shape;99;p7"/>
          <p:cNvGraphicFramePr/>
          <p:nvPr>
            <p:extLst>
              <p:ext uri="{D42A27DB-BD31-4B8C-83A1-F6EECF244321}">
                <p14:modId xmlns:p14="http://schemas.microsoft.com/office/powerpoint/2010/main" val="4053447533"/>
              </p:ext>
            </p:extLst>
          </p:nvPr>
        </p:nvGraphicFramePr>
        <p:xfrm>
          <a:off x="5394940" y="327635"/>
          <a:ext cx="3383300" cy="4008170"/>
        </p:xfrm>
        <a:graphic>
          <a:graphicData uri="http://schemas.openxmlformats.org/drawingml/2006/table">
            <a:tbl>
              <a:tblPr>
                <a:noFill/>
                <a:tableStyleId>{CC6A0AFF-9CF0-44DC-ADD7-3E50970263CB}</a:tableStyleId>
              </a:tblPr>
              <a:tblGrid>
                <a:gridCol w="1393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90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b="1" u="none" strike="noStrike" cap="none">
                          <a:solidFill>
                            <a:srgbClr val="FFFFFF"/>
                          </a:solidFill>
                        </a:rPr>
                        <a:t>Criterio</a:t>
                      </a:r>
                      <a:endParaRPr sz="16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97B1D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7B1D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7B1D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7B1D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7B1D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b="1" u="none" strike="noStrike" cap="none">
                          <a:solidFill>
                            <a:srgbClr val="FFFFFF"/>
                          </a:solidFill>
                        </a:rPr>
                        <a:t>Descripción</a:t>
                      </a:r>
                      <a:endParaRPr sz="16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97B1D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7B1D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7B1D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7B1D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7B1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30A18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u="none" strike="noStrike" cap="none" dirty="0" err="1">
                          <a:solidFill>
                            <a:srgbClr val="030A18"/>
                          </a:solidFill>
                        </a:rPr>
                        <a:t>Responsividad</a:t>
                      </a:r>
                      <a:endParaRPr sz="1600" u="none" strike="noStrike" cap="none" dirty="0"/>
                    </a:p>
                  </a:txBody>
                  <a:tcPr marL="91450" marR="91450" marT="45725" marB="45725">
                    <a:lnL w="9525" cap="flat" cmpd="sng">
                      <a:solidFill>
                        <a:srgbClr val="97B1D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7B1D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7B1D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7B1D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u="none" strike="noStrike" cap="none">
                          <a:solidFill>
                            <a:srgbClr val="0070C0"/>
                          </a:solidFill>
                        </a:rPr>
                        <a:t>Se adapta a móvil, tablet y escritorio.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97B1D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7B1D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7B1D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7B1D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30A18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u="none" strike="noStrike" cap="none">
                          <a:solidFill>
                            <a:srgbClr val="030A18"/>
                          </a:solidFill>
                        </a:rPr>
                        <a:t>Meta viewport</a:t>
                      </a:r>
                      <a:endParaRPr sz="16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97B1D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7B1D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7B1D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7B1D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u="none" strike="noStrike" cap="none">
                          <a:solidFill>
                            <a:srgbClr val="0070C0"/>
                          </a:solidFill>
                        </a:rPr>
                        <a:t>Etiqueta configurada correctamente.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97B1D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7B1D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7B1D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7B1D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30A18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u="none" strike="noStrike" cap="none">
                          <a:solidFill>
                            <a:srgbClr val="030A18"/>
                          </a:solidFill>
                        </a:rPr>
                        <a:t>Unidades relativas</a:t>
                      </a:r>
                      <a:endParaRPr sz="16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97B1D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7B1D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7B1D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7B1D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u="none" strike="noStrike" cap="none">
                          <a:solidFill>
                            <a:srgbClr val="0070C0"/>
                          </a:solidFill>
                        </a:rPr>
                        <a:t>Uso de %, rem, em, vw/vh.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97B1D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7B1D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7B1D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7B1D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30A18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u="none" strike="noStrike" cap="none">
                          <a:solidFill>
                            <a:srgbClr val="030A18"/>
                          </a:solidFill>
                        </a:rPr>
                        <a:t>Media queries</a:t>
                      </a:r>
                      <a:endParaRPr sz="16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97B1D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7B1D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7B1D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7B1D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u="none" strike="noStrike" cap="none">
                          <a:solidFill>
                            <a:srgbClr val="0070C0"/>
                          </a:solidFill>
                        </a:rPr>
                        <a:t>Mínimo dos breakpoints documentados.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97B1D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7B1D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7B1D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7B1D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30A18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u="none" strike="noStrike" cap="none">
                          <a:solidFill>
                            <a:srgbClr val="030A18"/>
                          </a:solidFill>
                        </a:rPr>
                        <a:t>Layout flexible</a:t>
                      </a:r>
                      <a:endParaRPr sz="16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97B1D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7B1D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7B1D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7B1D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u="none" strike="noStrike" cap="none" dirty="0">
                          <a:solidFill>
                            <a:srgbClr val="0070C0"/>
                          </a:solidFill>
                        </a:rPr>
                        <a:t>Flexbox y/o Grid </a:t>
                      </a:r>
                      <a:r>
                        <a:rPr lang="en-US" sz="1600" u="none" strike="noStrike" cap="none" dirty="0" err="1">
                          <a:solidFill>
                            <a:srgbClr val="0070C0"/>
                          </a:solidFill>
                        </a:rPr>
                        <a:t>correctamente</a:t>
                      </a:r>
                      <a:r>
                        <a:rPr lang="en-US" sz="1600" u="none" strike="noStrike" cap="none" dirty="0">
                          <a:solidFill>
                            <a:srgbClr val="0070C0"/>
                          </a:solidFill>
                        </a:rPr>
                        <a:t> </a:t>
                      </a:r>
                      <a:r>
                        <a:rPr lang="en-US" sz="1600" u="none" strike="noStrike" cap="none" dirty="0" err="1">
                          <a:solidFill>
                            <a:srgbClr val="0070C0"/>
                          </a:solidFill>
                        </a:rPr>
                        <a:t>implementados</a:t>
                      </a:r>
                      <a:r>
                        <a:rPr lang="en-US" sz="1600" u="none" strike="noStrike" cap="none" dirty="0">
                          <a:solidFill>
                            <a:srgbClr val="0070C0"/>
                          </a:solidFill>
                        </a:rPr>
                        <a:t>.</a:t>
                      </a:r>
                      <a:endParaRPr dirty="0"/>
                    </a:p>
                  </a:txBody>
                  <a:tcPr marL="91450" marR="91450" marT="45725" marB="45725">
                    <a:lnL w="9525" cap="flat" cmpd="sng">
                      <a:solidFill>
                        <a:srgbClr val="97B1D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7B1D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7B1D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7B1D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485</Words>
  <Application>Microsoft Office PowerPoint</Application>
  <PresentationFormat>Presentación en pantalla (16:9)</PresentationFormat>
  <Paragraphs>55</Paragraphs>
  <Slides>7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1" baseType="lpstr">
      <vt:lpstr>Arial</vt:lpstr>
      <vt:lpstr>Calibri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PptxGenJS</dc:creator>
  <cp:lastModifiedBy>SENA</cp:lastModifiedBy>
  <cp:revision>1</cp:revision>
  <dcterms:created xsi:type="dcterms:W3CDTF">2026-04-27T04:12:08Z</dcterms:created>
  <dcterms:modified xsi:type="dcterms:W3CDTF">2026-04-27T13:15:04Z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16245d8-e5f4-42ac-a19d-923c969a5d0b_Enabled">
    <vt:lpwstr>true</vt:lpwstr>
  </property>
  <property fmtid="{D5CDD505-2E9C-101B-9397-08002B2CF9AE}" pid="3" name="MSIP_Label_516245d8-e5f4-42ac-a19d-923c969a5d0b_SetDate">
    <vt:lpwstr>2026-04-27T04:21:41Z</vt:lpwstr>
  </property>
  <property fmtid="{D5CDD505-2E9C-101B-9397-08002B2CF9AE}" pid="4" name="MSIP_Label_516245d8-e5f4-42ac-a19d-923c969a5d0b_Method">
    <vt:lpwstr>Privileged</vt:lpwstr>
  </property>
  <property fmtid="{D5CDD505-2E9C-101B-9397-08002B2CF9AE}" pid="5" name="MSIP_Label_516245d8-e5f4-42ac-a19d-923c969a5d0b_Name">
    <vt:lpwstr>Confidential</vt:lpwstr>
  </property>
  <property fmtid="{D5CDD505-2E9C-101B-9397-08002B2CF9AE}" pid="6" name="MSIP_Label_516245d8-e5f4-42ac-a19d-923c969a5d0b_SiteId">
    <vt:lpwstr>cbc2c381-2f2e-4d93-91d1-506c9316ace7</vt:lpwstr>
  </property>
  <property fmtid="{D5CDD505-2E9C-101B-9397-08002B2CF9AE}" pid="7" name="MSIP_Label_516245d8-e5f4-42ac-a19d-923c969a5d0b_ActionId">
    <vt:lpwstr>54c30099-6322-4e6a-a8ab-37fd6dfb4b11</vt:lpwstr>
  </property>
  <property fmtid="{D5CDD505-2E9C-101B-9397-08002B2CF9AE}" pid="8" name="MSIP_Label_516245d8-e5f4-42ac-a19d-923c969a5d0b_ContentBits">
    <vt:lpwstr>0</vt:lpwstr>
  </property>
  <property fmtid="{D5CDD505-2E9C-101B-9397-08002B2CF9AE}" pid="9" name="MSIP_Label_516245d8-e5f4-42ac-a19d-923c969a5d0b_Tag">
    <vt:lpwstr>10, 0, 1, 1</vt:lpwstr>
  </property>
</Properties>
</file>